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Мы сделали CRM для ИТ Школы Ростелекома: она ведёт работу с вузами от первого контакта до занятий и сама показывает, где работа встала.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Задача не в том, чтобы завести ещё одну таблицу, а в том, чтобы система сама показывала, где работа встала.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первый экран КАМа. Шесть записей из трёхсот пятидесяти — те, где сегодня нужно что-то сделать.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Правила перехода проверяет сервер, а не интерфейс: кнопку можно спрятать, но обойти правило нельзя.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Ни один сигнал не ставится руками — иначе он врёт ровно в тот момент, когда нужен.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Жюри прямо спрашивало про ручные приоритеты. Мы их сделали, но не дали им подменить расчёт.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ответ на вопрос жюри про B2C: не отдельная система, а группа контрагентов со своим процессом.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Полная схема связей со всеми участниками — в сопроводительной документации, здесь только суть обмена.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Схема программно-аппаратной архитектуры целиком — в документации; здесь три слоя и то, что масштабируется.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Важнее самой цифры то, что на всех ступенях ноль ошибок: замедление лечится железом, отказ пришлось бы чинить.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Аттестуется контур заказчика, но архитектуру и меры смотрят уже сейчас — поэтому у каждой меры есть ссылка на код.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честно: стенда нет, потому что нет сервера. Всё остальное работает и проверяется командами из репозитория.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1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Радар вузов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1089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контроля взаимодействия ИТ Школы Ростелекома с вузами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69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 №6 · ЛЦТ 2026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120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Работающий прототип: 122 операции API, 389 тестов, демо-стенд на 351 записи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Работа есть, а картины нет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выглядит процесс, пока он живёт в таблицах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  <a:effectLst>
            <a:outerShdw sx="100000" sy="100000" kx="0" ky="0" algn="bl" rotWithShape="0" blurRad="127000" dist="25400" dir="5400000">
              <a:srgbClr val="AAB0C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D4A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077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вузов в работе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каждого — свои программы и продукты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  <a:effectLst>
            <a:outerShdw sx="100000" sy="100000" kx="0" ky="0" algn="bl" rotWithShape="0" blurRad="127000" dist="25400" dir="5400000">
              <a:srgbClr val="AAB0C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17720" y="21031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D4A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9077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этапов пути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поиска контактов до контроля занятий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92024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  <a:effectLst>
            <a:outerShdw sx="100000" sy="100000" kx="0" ky="0" algn="bl" rotWithShape="0" blurRad="127000" dist="25400" dir="5400000">
              <a:srgbClr val="AAB0C0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21040" y="21031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9077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сигналов тревоги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просрочку замечают, когда уже поздно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34340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 за период собирают руками, и каждый раз по-своему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Договор, лицензия и обучение живут в разных файлах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Заявки с сайта и данные из LMS никуда не приходят сами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Радар: экран, с которого начинается день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Записи, которые требуют внимания сегодня — с причиной и сроком</a:t>
            </a:r>
            <a:endParaRPr lang="en-US" sz="1400" dirty="0"/>
          </a:p>
        </p:txBody>
      </p:sp>
      <p:pic>
        <p:nvPicPr>
          <p:cNvPr id="4" name="Image 0" descr="/Users/olegbragin/Desktop/hackaton/hackathon_2026/backend/app/help/images/rad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1600200"/>
            <a:ext cx="5760720" cy="39136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82880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сигнала: просрочка этапа, истекающая лицензия, отсутствие документа, простой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Сигнал открывается и закрывается сам — ничего не нужно помечать руками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каждого сигнала видно числа, по которым он построен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Пороги задаёт администратор, а не разработчик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Путь взаимодействия виден целиком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записи: этап, сроки, требования и история</a:t>
            </a:r>
            <a:endParaRPr lang="en-US" sz="1400" dirty="0"/>
          </a:p>
        </p:txBody>
      </p:sp>
      <p:pic>
        <p:nvPicPr>
          <p:cNvPr id="4" name="Image 0" descr="/Users/olegbragin/Desktop/hackaton/hackathon_2026/backend/app/help/images/c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45920"/>
            <a:ext cx="5943600" cy="40416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0" y="1783080"/>
            <a:ext cx="384048" cy="384048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60920" y="174650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и норма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60920" y="203911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дней на этапе при норме 14 — это и есть сигнал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858000" y="2834640"/>
            <a:ext cx="384048" cy="384048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85800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360920" y="279806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Требования перехода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360920" y="309067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подписанного договора — система не пустит дальше и скажет почему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858000" y="3886200"/>
            <a:ext cx="384048" cy="384048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85800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360920" y="384962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Возврат назад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360920" y="414223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 бюрократический: у каждого шага вперёд есть обратный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858000" y="4937760"/>
            <a:ext cx="384048" cy="384048"/>
          </a:xfrm>
          <a:prstGeom prst="ellipse">
            <a:avLst/>
          </a:prstGeom>
          <a:solidFill>
            <a:srgbClr val="6D4AF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85800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360920" y="490118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только дозаписью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360920" y="519379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триггер базы запрещает изменить прошлое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сигнала и ни одного ручного статуса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и пороги — в настройках администратора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  <a:effectLst>
            <a:outerShdw sx="100000" sy="100000" kx="0" ky="0" algn="bl" rotWithShape="0" blurRad="127000" dist="25400" dir="5400000">
              <a:srgbClr val="AAB0C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8928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Просрочка этапа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89280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дней на этапе больше нормы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92640" y="18928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/ high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F3F4F8"/>
          </a:solidFill>
          <a:ln w="12700">
            <a:solidFill>
              <a:srgbClr val="E3E6EF"/>
            </a:solidFill>
            <a:prstDash val="solid"/>
          </a:ln>
          <a:effectLst>
            <a:outerShdw sx="100000" sy="100000" kx="0" ky="0" algn="bl" rotWithShape="0" blurRad="127000" dist="25400" dir="5400000">
              <a:srgbClr val="AAB0C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60120" y="29443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Истекает лицензия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294436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конца лицензии 60 дней и меньше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692640" y="29443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/ high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  <a:effectLst>
            <a:outerShdw sx="100000" sy="100000" kx="0" ky="0" algn="bl" rotWithShape="0" blurRad="127000" dist="25400" dir="5400000">
              <a:srgbClr val="AAB0C0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60120" y="39959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документа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399592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требует документ, прошла половина нормы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692640" y="39959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93776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F3F4F8"/>
          </a:solidFill>
          <a:ln w="12700">
            <a:solidFill>
              <a:srgbClr val="E3E6EF"/>
            </a:solidFill>
            <a:prstDash val="solid"/>
          </a:ln>
          <a:effectLst>
            <a:outerShdw sx="100000" sy="100000" kx="0" ky="0" algn="bl" rotWithShape="0" blurRad="127000" dist="25400" dir="5400000">
              <a:srgbClr val="AAB0C0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60120" y="5047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Простой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50474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переходов, заметок и файлов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692640" y="50474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Пересчёт идёт сразу после действия и полностью раз в сутки: запись получает сигнал сама, просто потому что прошло время.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Рейтинг, который можно объяснить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Заявки, обучающиеся и потоки — с вкладом каждой метрики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5778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  <a:effectLst>
            <a:outerShdw sx="100000" sy="100000" kx="0" ky="0" algn="bl" rotWithShape="0" blurRad="127000" dist="25400" dir="5400000">
              <a:srgbClr val="AAB0C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4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Σ(вес × нормированное значение) / Σ(вес)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42316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Нормирование внутри направления: маленькое направление не проигрывает большому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вкладов равна баллу — видно, из чего он сложился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метрики за период — строка помечается неполной, а не проваливается вниз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Никаких внешних LLM: результат воспроизводим и проверяем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0" y="1737360"/>
            <a:ext cx="4937760" cy="3200400"/>
          </a:xfrm>
          <a:prstGeom prst="roundRect">
            <a:avLst>
              <a:gd name="adj" fmla="val 3429"/>
            </a:avLst>
          </a:prstGeom>
          <a:solidFill>
            <a:srgbClr val="F3F4F8"/>
          </a:solidFill>
          <a:ln w="12700">
            <a:solidFill>
              <a:srgbClr val="E3E6EF"/>
            </a:solidFill>
            <a:prstDash val="solid"/>
          </a:ln>
          <a:effectLst>
            <a:outerShdw sx="100000" sy="100000" kx="0" ky="0" algn="bl" rotWithShape="0" blurRad="127000" dist="25400" dir="5400000">
              <a:srgbClr val="AAB0C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903720" y="1965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Ручной приоритет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23774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 этом году продвигаем ИИ» — это решение человека, а не вывод из данных.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310896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можно поднять вручную: приоритет 0–100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показа меняется, балл и место — нет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 пишется в журнал аудита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166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видно, где расчёт, а где решение: рейтинг остаётся объяснимым.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Вузы и частные лица — разные процессы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контрагентов определяет путь записи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  <a:effectLst>
            <a:outerShdw sx="100000" sy="100000" kx="0" ky="0" algn="bl" rotWithShape="0" blurRad="127000" dist="25400" dir="5400000">
              <a:srgbClr val="AAB0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2377440" cy="384048"/>
          </a:xfrm>
          <a:prstGeom prst="roundRect">
            <a:avLst>
              <a:gd name="adj" fmla="val 23810"/>
            </a:avLst>
          </a:prstGeom>
          <a:solidFill>
            <a:srgbClr val="6D4A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103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Вузы (B2B)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6974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этапов из ТЗ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договор, лицензия, передача материалов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преподавателей и ведение занятий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25780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  <a:effectLst>
            <a:outerShdw sx="100000" sy="100000" kx="0" ky="0" algn="bl" rotWithShape="0" blurRad="127000" dist="25400" dir="5400000">
              <a:srgbClr val="AAB0C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0" y="2103120"/>
            <a:ext cx="2377440" cy="384048"/>
          </a:xfrm>
          <a:prstGeom prst="roundRect">
            <a:avLst>
              <a:gd name="adj" fmla="val 23810"/>
            </a:avLst>
          </a:prstGeom>
          <a:solidFill>
            <a:srgbClr val="E8590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2103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Частные лица (B2C)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6974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короткий путь: заявка → оплата → занятия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контрагент — человек или организация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 может быть не нужен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937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 заводит новые группы сам: у каждой свой процесс, свои нормы и свой радар.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Обмен в обе стороны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— ядро процесса, а не ещё один справочник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017520" cy="1463040"/>
          </a:xfrm>
          <a:prstGeom prst="roundRect">
            <a:avLst>
              <a:gd name="adj" fmla="val 8750"/>
            </a:avLst>
          </a:prstGeom>
          <a:solidFill>
            <a:srgbClr val="F3F4F8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286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974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обучающиеся, потоки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2103120"/>
            <a:ext cx="3017520" cy="1463040"/>
          </a:xfrm>
          <a:prstGeom prst="roundRect">
            <a:avLst>
              <a:gd name="adj" fmla="val 8750"/>
            </a:avLst>
          </a:prstGeom>
          <a:solidFill>
            <a:srgbClr val="1B2140"/>
          </a:solidFill>
          <a:ln w="12700">
            <a:solidFill>
              <a:srgbClr val="1B21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2286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Радар вузов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26974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очередь обмена в той же транзакции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503920" y="2103120"/>
            <a:ext cx="3017520" cy="1463040"/>
          </a:xfrm>
          <a:prstGeom prst="roundRect">
            <a:avLst>
              <a:gd name="adj" fmla="val 8750"/>
            </a:avLst>
          </a:prstGeom>
          <a:solidFill>
            <a:srgbClr val="F3F4F8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732520" y="2286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ИТ Школы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732520" y="26974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заявки абитуриентов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03320" y="2423160"/>
            <a:ext cx="777240" cy="237744"/>
          </a:xfrm>
          <a:prstGeom prst="rightArrow">
            <a:avLst/>
          </a:prstGeom>
          <a:solidFill>
            <a:srgbClr val="6D4A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66160" y="267004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 flipH="1">
            <a:off x="3703320" y="3063240"/>
            <a:ext cx="777240" cy="237744"/>
          </a:xfrm>
          <a:prstGeom prst="rightArrow">
            <a:avLst/>
          </a:prstGeom>
          <a:solidFill>
            <a:srgbClr val="E8590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566160" y="331012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 flipH="1">
            <a:off x="7635240" y="2423160"/>
            <a:ext cx="777240" cy="237744"/>
          </a:xfrm>
          <a:prstGeom prst="rightArrow">
            <a:avLst/>
          </a:prstGeom>
          <a:solidFill>
            <a:srgbClr val="E8590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98080" y="267004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заявки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635240" y="3063240"/>
            <a:ext cx="777240" cy="237744"/>
          </a:xfrm>
          <a:prstGeom prst="rightArrow">
            <a:avLst/>
          </a:prstGeom>
          <a:solidFill>
            <a:srgbClr val="6D4A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98080" y="331012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11480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Заявка сама находит запись по вузу, программе и продукту; не нашлась — ждёт человека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Обратно уходит документ radar-vuzov/interaction@1: статус, ответственный, файлы, ключи связей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Отметка об отправке пишется в одной транзакции с изменением: откатилась — отправлять нечего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Получатель недоступен — повтор по расписанию, работа КАМа не ждёт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 чего это собрано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в Yandex Cloud, docker compose, файлы в Object Storage; наружу только 80 и 443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  <a:effectLst>
            <a:outerShdw sx="100000" sy="100000" kx="0" ky="0" algn="bl" rotWithShape="0" blurRad="127000" dist="25400" dir="5400000">
              <a:srgbClr val="AAB0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1600200" cy="365760"/>
          </a:xfrm>
          <a:prstGeom prst="roundRect">
            <a:avLst>
              <a:gd name="adj" fmla="val 25000"/>
            </a:avLst>
          </a:prstGeom>
          <a:solidFill>
            <a:srgbClr val="6D4A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574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060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— TLS, статика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9900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26 — вход и роли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  <a:effectLst>
            <a:outerShdw sx="100000" sy="100000" kx="0" ky="0" algn="bl" rotWithShape="0" blurRad="127000" dist="25400" dir="5400000">
              <a:srgbClr val="AAB0C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057400"/>
            <a:ext cx="1600200" cy="365760"/>
          </a:xfrm>
          <a:prstGeom prst="roundRect">
            <a:avLst>
              <a:gd name="adj" fmla="val 25000"/>
            </a:avLst>
          </a:prstGeom>
          <a:solidFill>
            <a:srgbClr val="E8590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20574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6060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— FastAPI, uvicorn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9900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— arq, тот же образ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  <a:effectLst>
            <a:outerShdw sx="100000" sy="100000" kx="0" ky="0" algn="bl" rotWithShape="0" blurRad="127000" dist="25400" dir="5400000">
              <a:srgbClr val="AAB0C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2057400"/>
            <a:ext cx="1600200" cy="365760"/>
          </a:xfrm>
          <a:prstGeom prst="roundRect">
            <a:avLst>
              <a:gd name="adj" fmla="val 25000"/>
            </a:avLst>
          </a:prstGeom>
          <a:solidFill>
            <a:srgbClr val="1B214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20574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Состояние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6060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9900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37413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S3: Object Storage / MinIO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38912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F3F4F8"/>
          </a:solidFill>
          <a:ln w="12700">
            <a:solidFill>
              <a:srgbClr val="E3E6EF"/>
            </a:solidFill>
            <a:prstDash val="solid"/>
          </a:ln>
          <a:effectLst>
            <a:outerShdw sx="100000" sy="100000" kx="0" ky="0" algn="bl" rotWithShape="0" blurRad="127000" dist="25400" dir="5400000">
              <a:srgbClr val="AAB0C0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60120" y="45720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Копии раз в сутки: дамп базы с проверкой восстановления; файлы — в S3 с версионированием, копии шифруются во внешний бакет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44068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без состояния: масштабируется копиями за тем же nginx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Очереди захватываются арендой и SKIP LOCKED — вторая копия воркера не отправит то же дважды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на /api/docs, контракт в репозитории, расхождение ловит CI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Нагрузка измерена, а не обещана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на данных стенда: 299 записей, 96 вузов, 10 548 метрик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841248"/>
          </a:xfrm>
          <a:prstGeom prst="roundRect">
            <a:avLst>
              <a:gd name="adj" fmla="val 13043"/>
            </a:avLst>
          </a:prstGeom>
          <a:solidFill>
            <a:srgbClr val="EEF6EE"/>
          </a:solidFill>
          <a:ln w="12700">
            <a:solidFill>
              <a:srgbClr val="E3E6EF"/>
            </a:solidFill>
            <a:prstDash val="solid"/>
          </a:ln>
          <a:effectLst>
            <a:outerShdw sx="100000" sy="100000" kx="0" ky="0" algn="bl" rotWithShape="0" blurRad="127000" dist="25400" dir="5400000">
              <a:srgbClr val="AAB0C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8928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пользователей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6E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386,59 мс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 1 с ✓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0" y="1920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ошибок из 21 048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108813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  <a:effectLst>
            <a:outerShdw sx="100000" sy="100000" kx="0" ky="0" algn="bl" rotWithShape="0" blurRad="127000" dist="25400" dir="5400000">
              <a:srgbClr val="AAB0C0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60120" y="28986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пользователей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2880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1,15 с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упирается база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0" y="2926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ошибок из 24 996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108813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  <a:effectLst>
            <a:outerShdw sx="100000" sy="100000" kx="0" ky="0" algn="bl" rotWithShape="0" blurRad="127000" dist="25400" dir="5400000">
              <a:srgbClr val="AAB0C0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60120" y="39044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пользователей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1,87 с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копии API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0" y="3931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ошибок из 40 872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800600"/>
            <a:ext cx="108813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  <a:effectLst>
            <a:outerShdw sx="100000" sy="100000" kx="0" ky="0" algn="bl" rotWithShape="0" blurRad="127000" dist="25400" dir="5400000">
              <a:srgbClr val="AAB0C0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60120" y="49103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отчётов разом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931920" y="4892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204 мс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852160" y="4937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доходят до done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0" y="4937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цикл до 4,3 с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8978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не отказывает, а замедляется: узкое горлышко — база (420 % CPU против 6 % у Redis). План на 300+: разнести базу и приложение, PgBouncer, копии API и воркера, реплика для чтения.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152-ФЗ — не абзац в документе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Меры, у каждой из которых есть место в коде и тест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1234440"/>
          </a:xfrm>
          <a:prstGeom prst="roundRect">
            <a:avLst>
              <a:gd name="adj" fmla="val 8889"/>
            </a:avLst>
          </a:prstGeom>
          <a:solidFill>
            <a:srgbClr val="F3F4F8"/>
          </a:solidFill>
          <a:ln w="12700">
            <a:solidFill>
              <a:srgbClr val="E3E6EF"/>
            </a:solidFill>
            <a:prstDash val="solid"/>
          </a:ln>
          <a:effectLst>
            <a:outerShdw sx="100000" sy="100000" kx="0" ky="0" algn="bl" rotWithShape="0" blurRad="127000" dist="25400" dir="5400000">
              <a:srgbClr val="AAB0C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9476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Права проверяет сервер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13432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чужая запись — «не найдено», а не «нет прав»; тест на каждом методе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257800" cy="1234440"/>
          </a:xfrm>
          <a:prstGeom prst="roundRect">
            <a:avLst>
              <a:gd name="adj" fmla="val 8889"/>
            </a:avLst>
          </a:prstGeom>
          <a:solidFill>
            <a:srgbClr val="F3F4F8"/>
          </a:solidFill>
          <a:ln w="12700">
            <a:solidFill>
              <a:srgbClr val="E3E6EF"/>
            </a:solidFill>
            <a:prstDash val="solid"/>
          </a:ln>
          <a:effectLst>
            <a:outerShdw sx="100000" sy="100000" kx="0" ky="0" algn="bl" rotWithShape="0" blurRad="127000" dist="25400" dir="5400000">
              <a:srgbClr val="AAB0C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83680" y="19476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Персональные данные шифруются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313432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почта и телефон — Fernet; в списке адрес показан сокращённо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5257800" cy="1234440"/>
          </a:xfrm>
          <a:prstGeom prst="roundRect">
            <a:avLst>
              <a:gd name="adj" fmla="val 8889"/>
            </a:avLst>
          </a:prstGeom>
          <a:solidFill>
            <a:srgbClr val="F3F4F8"/>
          </a:solidFill>
          <a:ln w="12700">
            <a:solidFill>
              <a:srgbClr val="E3E6EF"/>
            </a:solidFill>
            <a:prstDash val="solid"/>
          </a:ln>
          <a:effectLst>
            <a:outerShdw sx="100000" sy="100000" kx="0" ky="0" algn="bl" rotWithShape="0" blurRad="127000" dist="25400" dir="5400000">
              <a:srgbClr val="AAB0C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60120" y="33649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ПДн пишется в аудит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30752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видно, кто и когда открывал контакт; журнал только дозаписью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3200400"/>
            <a:ext cx="5257800" cy="1234440"/>
          </a:xfrm>
          <a:prstGeom prst="roundRect">
            <a:avLst>
              <a:gd name="adj" fmla="val 8889"/>
            </a:avLst>
          </a:prstGeom>
          <a:solidFill>
            <a:srgbClr val="F3F4F8"/>
          </a:solidFill>
          <a:ln w="12700">
            <a:solidFill>
              <a:srgbClr val="E3E6EF"/>
            </a:solidFill>
            <a:prstDash val="solid"/>
          </a:ln>
          <a:effectLst>
            <a:outerShdw sx="100000" sy="100000" kx="0" ky="0" algn="bl" rotWithShape="0" blurRad="127000" dist="25400" dir="5400000">
              <a:srgbClr val="AAB0C0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83680" y="33649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не переписывается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730752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триггер базы запрещает UPDATE и DELETE переходов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617720"/>
            <a:ext cx="5257800" cy="1234440"/>
          </a:xfrm>
          <a:prstGeom prst="roundRect">
            <a:avLst>
              <a:gd name="adj" fmla="val 8889"/>
            </a:avLst>
          </a:prstGeom>
          <a:solidFill>
            <a:srgbClr val="F3F4F8"/>
          </a:solidFill>
          <a:ln w="12700">
            <a:solidFill>
              <a:srgbClr val="E3E6EF"/>
            </a:solidFill>
            <a:prstDash val="solid"/>
          </a:ln>
          <a:effectLst>
            <a:outerShdw sx="100000" sy="100000" kx="0" ky="0" algn="bl" rotWithShape="0" blurRad="127000" dist="25400" dir="5400000">
              <a:srgbClr val="AAB0C0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60120" y="47823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Секреты — только в окружении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148072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базе хранится имя переменной, а не сам токен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617720"/>
            <a:ext cx="5257800" cy="1234440"/>
          </a:xfrm>
          <a:prstGeom prst="roundRect">
            <a:avLst>
              <a:gd name="adj" fmla="val 8889"/>
            </a:avLst>
          </a:prstGeom>
          <a:solidFill>
            <a:srgbClr val="F3F4F8"/>
          </a:solidFill>
          <a:ln w="12700">
            <a:solidFill>
              <a:srgbClr val="E3E6EF"/>
            </a:solidFill>
            <a:prstDash val="solid"/>
          </a:ln>
          <a:effectLst>
            <a:outerShdw sx="100000" sy="100000" kx="0" ky="0" algn="bl" rotWithShape="0" blurRad="127000" dist="25400" dir="5400000">
              <a:srgbClr val="AAB0C0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583680" y="47823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Зависимости проверяются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5148072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pip-audit и gitleaks в CI; известных уязвимостей нет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1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готово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7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Процесс, радар, отчёты, рейтинг, интеграции, уведомления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7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 операции на 107 путях API, контракт, 389 тестов, 48 таблиц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7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Руководства внутри продукта, диаграммы, разбор соответствия ТЗ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7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Демо-стенд на 351 записи поднимается одной командой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0" y="7315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дальше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46304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7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Развернуть стенд: сервер и домен — единственное, чего нельзя закрыть кодом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7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Подключить оставшиеся экраны интерфейса по готовой постановке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7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Снять скриншоты новых экранов во встроенное руководство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Репозиторий, документация и демо-стенд — по ссылке из заявки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6692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Спасибо. Готовы показать вживую любой сценарий.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Радар вузов — кейс №6 ЛЦТ 2026</dc:title>
  <dc:subject>PptxGenJS Presentation</dc:subject>
  <dc:creator>Команда «Радар вузов»</dc:creator>
  <cp:lastModifiedBy>Команда «Радар вузов»</cp:lastModifiedBy>
  <cp:revision>1</cp:revision>
  <dcterms:created xsi:type="dcterms:W3CDTF">2026-09-29T12:00:26Z</dcterms:created>
  <dcterms:modified xsi:type="dcterms:W3CDTF">2026-09-29T12:00:26Z</dcterms:modified>
</cp:coreProperties>
</file>